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03" r:id="rId18"/>
    <p:sldId id="272" r:id="rId19"/>
    <p:sldId id="273" r:id="rId20"/>
    <p:sldId id="274" r:id="rId21"/>
    <p:sldId id="275" r:id="rId22"/>
    <p:sldId id="302" r:id="rId23"/>
    <p:sldId id="301" r:id="rId24"/>
    <p:sldId id="277" r:id="rId25"/>
    <p:sldId id="278" r:id="rId26"/>
    <p:sldId id="279" r:id="rId27"/>
    <p:sldId id="280" r:id="rId28"/>
    <p:sldId id="281" r:id="rId29"/>
    <p:sldId id="305" r:id="rId30"/>
    <p:sldId id="306" r:id="rId31"/>
    <p:sldId id="315" r:id="rId32"/>
    <p:sldId id="316" r:id="rId33"/>
    <p:sldId id="317" r:id="rId34"/>
    <p:sldId id="319" r:id="rId35"/>
    <p:sldId id="320" r:id="rId36"/>
  </p:sldIdLst>
  <p:sldSz cx="18288000" cy="10287000"/>
  <p:notesSz cx="6858000" cy="9144000"/>
  <p:embeddedFontLst>
    <p:embeddedFont>
      <p:font typeface="Canva Sans" panose="020B0604020202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1882"/>
            <a:ext cx="18288000" cy="10184130"/>
          </a:xfrm>
          <a:custGeom>
            <a:avLst/>
            <a:gdLst/>
            <a:ahLst/>
            <a:cxnLst/>
            <a:rect l="l" t="t" r="r" b="b"/>
            <a:pathLst>
              <a:path w="18288000" h="10184130">
                <a:moveTo>
                  <a:pt x="0" y="0"/>
                </a:moveTo>
                <a:lnTo>
                  <a:pt x="18288000" y="0"/>
                </a:lnTo>
                <a:lnTo>
                  <a:pt x="18288000" y="10184130"/>
                </a:lnTo>
                <a:lnTo>
                  <a:pt x="0" y="101841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9296400" y="3308223"/>
          <a:ext cx="7191375" cy="6172200"/>
        </p:xfrm>
        <a:graphic>
          <a:graphicData uri="http://schemas.openxmlformats.org/drawingml/2006/table">
            <a:tbl>
              <a:tblPr/>
              <a:tblGrid>
                <a:gridCol w="1030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1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u="none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u="none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Detailed 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u="none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u="none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Trend 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u="none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u="none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Discussion of Findings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u="none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u="none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Implications and Recommendations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u="none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u="none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Conclusion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2" action="ppaction://hlinksldjump"/>
                        </a:rPr>
                        <a:t>12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2" action="ppaction://hlinksldjump"/>
                        </a:rPr>
                        <a:t>Q&amp;A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6" b="-16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7490802" y="9356090"/>
            <a:ext cx="152400" cy="1809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C4C73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49952"/>
            <a:ext cx="18288000" cy="7780136"/>
          </a:xfrm>
          <a:custGeom>
            <a:avLst/>
            <a:gdLst/>
            <a:ahLst/>
            <a:cxnLst/>
            <a:rect l="l" t="t" r="r" b="b"/>
            <a:pathLst>
              <a:path w="18288000" h="7780136">
                <a:moveTo>
                  <a:pt x="0" y="0"/>
                </a:moveTo>
                <a:lnTo>
                  <a:pt x="18288000" y="0"/>
                </a:lnTo>
                <a:lnTo>
                  <a:pt x="18288000" y="7780136"/>
                </a:lnTo>
                <a:lnTo>
                  <a:pt x="0" y="7780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4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0" y="0"/>
            <a:ext cx="6940896" cy="1045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40"/>
              </a:lnSpc>
            </a:pPr>
            <a:r>
              <a:rPr lang="en-US" sz="6000" spc="-215" dirty="0">
                <a:solidFill>
                  <a:srgbClr val="0C4C73"/>
                </a:solidFill>
                <a:latin typeface="+mj-lt"/>
                <a:ea typeface="Canva Sans"/>
                <a:cs typeface="Canva Sans"/>
                <a:sym typeface="Canva Sans"/>
              </a:rPr>
              <a:t>HC Dashboard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490802" y="9356090"/>
            <a:ext cx="152400" cy="1809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C4C73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1740296" cy="9789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0296" cy="978916"/>
            </a:xfrm>
            <a:custGeom>
              <a:avLst/>
              <a:gdLst/>
              <a:ahLst/>
              <a:cxnLst/>
              <a:rect l="l" t="t" r="r" b="b"/>
              <a:pathLst>
                <a:path w="1740296" h="978916">
                  <a:moveTo>
                    <a:pt x="0" y="0"/>
                  </a:moveTo>
                  <a:lnTo>
                    <a:pt x="1740296" y="0"/>
                  </a:lnTo>
                  <a:lnTo>
                    <a:pt x="1740296" y="978916"/>
                  </a:lnTo>
                  <a:lnTo>
                    <a:pt x="0" y="978916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7490802" y="9356090"/>
            <a:ext cx="152400" cy="1809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1285"/>
          </a:xfrm>
          <a:custGeom>
            <a:avLst/>
            <a:gdLst/>
            <a:ahLst/>
            <a:cxnLst/>
            <a:rect l="l" t="t" r="r" b="b"/>
            <a:pathLst>
              <a:path w="18288000" h="10281285">
                <a:moveTo>
                  <a:pt x="0" y="0"/>
                </a:moveTo>
                <a:lnTo>
                  <a:pt x="18288000" y="0"/>
                </a:lnTo>
                <a:lnTo>
                  <a:pt x="18288000" y="10281285"/>
                </a:lnTo>
                <a:lnTo>
                  <a:pt x="0" y="10281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03" r="-859"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3561" y="1214437"/>
            <a:ext cx="16940878" cy="8785608"/>
            <a:chOff x="0" y="0"/>
            <a:chExt cx="22587837" cy="1171414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1422" b="1422"/>
            <a:stretch>
              <a:fillRect/>
            </a:stretch>
          </p:blipFill>
          <p:spPr>
            <a:xfrm>
              <a:off x="0" y="0"/>
              <a:ext cx="22587837" cy="11714144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0" y="119062"/>
            <a:ext cx="6886575" cy="1045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40"/>
              </a:lnSpc>
            </a:pPr>
            <a:r>
              <a:rPr lang="en-US" sz="6000" spc="-215" dirty="0">
                <a:solidFill>
                  <a:srgbClr val="0C4C73"/>
                </a:solidFill>
                <a:latin typeface="+mj-lt"/>
                <a:ea typeface="Canva Sans"/>
                <a:cs typeface="Canva Sans"/>
                <a:sym typeface="Canva Sans"/>
              </a:rPr>
              <a:t>CASE(FIR)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79" r="-5079"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9497" y="1475171"/>
            <a:ext cx="16789006" cy="8328921"/>
          </a:xfrm>
          <a:custGeom>
            <a:avLst/>
            <a:gdLst/>
            <a:ahLst/>
            <a:cxnLst/>
            <a:rect l="l" t="t" r="r" b="b"/>
            <a:pathLst>
              <a:path w="16789006" h="8328921">
                <a:moveTo>
                  <a:pt x="0" y="0"/>
                </a:moveTo>
                <a:lnTo>
                  <a:pt x="16789006" y="0"/>
                </a:lnTo>
                <a:lnTo>
                  <a:pt x="16789006" y="8328921"/>
                </a:lnTo>
                <a:lnTo>
                  <a:pt x="0" y="8328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91" b="-917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0" y="119062"/>
            <a:ext cx="9144000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40"/>
              </a:lnSpc>
            </a:pPr>
            <a:r>
              <a:rPr lang="en-US" sz="7200" spc="-215">
                <a:solidFill>
                  <a:srgbClr val="0C4C73"/>
                </a:solidFill>
                <a:latin typeface="Canva Sans"/>
                <a:ea typeface="Canva Sans"/>
                <a:cs typeface="Canva Sans"/>
                <a:sym typeface="Canva Sans"/>
              </a:rPr>
              <a:t>ARREST AGAINST FIR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5720"/>
            <a:ext cx="18288000" cy="10195560"/>
          </a:xfrm>
          <a:custGeom>
            <a:avLst/>
            <a:gdLst/>
            <a:ahLst/>
            <a:cxnLst/>
            <a:rect l="l" t="t" r="r" b="b"/>
            <a:pathLst>
              <a:path w="18288000" h="10195560">
                <a:moveTo>
                  <a:pt x="0" y="0"/>
                </a:moveTo>
                <a:lnTo>
                  <a:pt x="18288000" y="0"/>
                </a:lnTo>
                <a:lnTo>
                  <a:pt x="18288000" y="10195560"/>
                </a:lnTo>
                <a:lnTo>
                  <a:pt x="0" y="10195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5553" y="1475171"/>
            <a:ext cx="16896894" cy="8382444"/>
          </a:xfrm>
          <a:custGeom>
            <a:avLst/>
            <a:gdLst/>
            <a:ahLst/>
            <a:cxnLst/>
            <a:rect l="l" t="t" r="r" b="b"/>
            <a:pathLst>
              <a:path w="16896894" h="8382444">
                <a:moveTo>
                  <a:pt x="0" y="0"/>
                </a:moveTo>
                <a:lnTo>
                  <a:pt x="16896894" y="0"/>
                </a:lnTo>
                <a:lnTo>
                  <a:pt x="16896894" y="8382443"/>
                </a:lnTo>
                <a:lnTo>
                  <a:pt x="0" y="8382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29" b="-6629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0" y="119062"/>
            <a:ext cx="6886575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40"/>
              </a:lnSpc>
            </a:pPr>
            <a:r>
              <a:rPr lang="en-US" sz="7200" spc="-215">
                <a:solidFill>
                  <a:srgbClr val="0C4C73"/>
                </a:solidFill>
                <a:latin typeface="Canva Sans"/>
                <a:ea typeface="Canva Sans"/>
                <a:cs typeface="Canva Sans"/>
                <a:sym typeface="Canva Sans"/>
              </a:rPr>
              <a:t>PCR CALL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9112" y="1214438"/>
            <a:ext cx="17249775" cy="8561965"/>
          </a:xfrm>
          <a:custGeom>
            <a:avLst/>
            <a:gdLst/>
            <a:ahLst/>
            <a:cxnLst/>
            <a:rect l="l" t="t" r="r" b="b"/>
            <a:pathLst>
              <a:path w="17249775" h="8561965">
                <a:moveTo>
                  <a:pt x="0" y="0"/>
                </a:moveTo>
                <a:lnTo>
                  <a:pt x="17249776" y="0"/>
                </a:lnTo>
                <a:lnTo>
                  <a:pt x="17249776" y="8561964"/>
                </a:lnTo>
                <a:lnTo>
                  <a:pt x="0" y="8561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77" r="-2177" b="-18129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0" y="119062"/>
            <a:ext cx="6886575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40"/>
              </a:lnSpc>
            </a:pPr>
            <a:r>
              <a:rPr lang="en-US" sz="7200" spc="-215">
                <a:solidFill>
                  <a:srgbClr val="0C4C73"/>
                </a:solidFill>
                <a:latin typeface="Canva Sans"/>
                <a:ea typeface="Canva Sans"/>
                <a:cs typeface="Canva Sans"/>
                <a:sym typeface="Canva Sans"/>
              </a:rPr>
              <a:t>MISSING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4350" y="1529672"/>
            <a:ext cx="17259300" cy="8182706"/>
          </a:xfrm>
          <a:custGeom>
            <a:avLst/>
            <a:gdLst/>
            <a:ahLst/>
            <a:cxnLst/>
            <a:rect l="l" t="t" r="r" b="b"/>
            <a:pathLst>
              <a:path w="17259300" h="8182706">
                <a:moveTo>
                  <a:pt x="0" y="0"/>
                </a:moveTo>
                <a:lnTo>
                  <a:pt x="17259300" y="0"/>
                </a:lnTo>
                <a:lnTo>
                  <a:pt x="17259300" y="8182706"/>
                </a:lnTo>
                <a:lnTo>
                  <a:pt x="0" y="81827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" r="-27" b="-18578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0" y="119062"/>
            <a:ext cx="6886575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40"/>
              </a:lnSpc>
            </a:pPr>
            <a:r>
              <a:rPr lang="en-US" sz="7200" spc="-215">
                <a:solidFill>
                  <a:srgbClr val="0C4C73"/>
                </a:solidFill>
                <a:latin typeface="Canva Sans"/>
                <a:ea typeface="Canva Sans"/>
                <a:cs typeface="Canva Sans"/>
                <a:sym typeface="Canva Sans"/>
              </a:rPr>
              <a:t>UIDB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715"/>
            <a:ext cx="18288000" cy="10275570"/>
          </a:xfrm>
          <a:custGeom>
            <a:avLst/>
            <a:gdLst/>
            <a:ahLst/>
            <a:cxnLst/>
            <a:rect l="l" t="t" r="r" b="b"/>
            <a:pathLst>
              <a:path w="18288000" h="1027557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3457" y="1095375"/>
            <a:ext cx="15541087" cy="8732148"/>
          </a:xfrm>
          <a:custGeom>
            <a:avLst/>
            <a:gdLst/>
            <a:ahLst/>
            <a:cxnLst/>
            <a:rect l="l" t="t" r="r" b="b"/>
            <a:pathLst>
              <a:path w="15541087" h="8732148">
                <a:moveTo>
                  <a:pt x="0" y="0"/>
                </a:moveTo>
                <a:lnTo>
                  <a:pt x="15541086" y="0"/>
                </a:lnTo>
                <a:lnTo>
                  <a:pt x="15541086" y="8732148"/>
                </a:lnTo>
                <a:lnTo>
                  <a:pt x="0" y="87321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0" y="0"/>
            <a:ext cx="6930031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40"/>
              </a:lnSpc>
            </a:pPr>
            <a:r>
              <a:rPr lang="en-US" sz="7200" spc="-215">
                <a:solidFill>
                  <a:srgbClr val="0C4C73"/>
                </a:solidFill>
                <a:latin typeface="Canva Sans"/>
                <a:ea typeface="Canva Sans"/>
                <a:cs typeface="Canva Sans"/>
                <a:sym typeface="Canva Sans"/>
              </a:rPr>
              <a:t>DCP CONSOLE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405821" y="9356090"/>
            <a:ext cx="152400" cy="1809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98171" cy="10281285"/>
          </a:xfrm>
          <a:custGeom>
            <a:avLst/>
            <a:gdLst/>
            <a:ahLst/>
            <a:cxnLst/>
            <a:rect l="l" t="t" r="r" b="b"/>
            <a:pathLst>
              <a:path w="18298171" h="10281285">
                <a:moveTo>
                  <a:pt x="0" y="0"/>
                </a:moveTo>
                <a:lnTo>
                  <a:pt x="18298171" y="0"/>
                </a:lnTo>
                <a:lnTo>
                  <a:pt x="18298171" y="10281285"/>
                </a:lnTo>
                <a:lnTo>
                  <a:pt x="0" y="10281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715"/>
            <a:ext cx="18298171" cy="10281285"/>
          </a:xfrm>
          <a:custGeom>
            <a:avLst/>
            <a:gdLst/>
            <a:ahLst/>
            <a:cxnLst/>
            <a:rect l="l" t="t" r="r" b="b"/>
            <a:pathLst>
              <a:path w="18298171" h="10281285">
                <a:moveTo>
                  <a:pt x="0" y="0"/>
                </a:moveTo>
                <a:lnTo>
                  <a:pt x="18298171" y="0"/>
                </a:lnTo>
                <a:lnTo>
                  <a:pt x="18298171" y="10281285"/>
                </a:lnTo>
                <a:lnTo>
                  <a:pt x="0" y="10281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7DF355-8D30-2AE2-A0F5-0E2F3D351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90500"/>
            <a:ext cx="17526000" cy="982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520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171" y="0"/>
            <a:ext cx="18308343" cy="10287000"/>
          </a:xfrm>
          <a:custGeom>
            <a:avLst/>
            <a:gdLst/>
            <a:ahLst/>
            <a:cxnLst/>
            <a:rect l="l" t="t" r="r" b="b"/>
            <a:pathLst>
              <a:path w="18308343" h="10287000">
                <a:moveTo>
                  <a:pt x="0" y="0"/>
                </a:moveTo>
                <a:lnTo>
                  <a:pt x="18308342" y="0"/>
                </a:lnTo>
                <a:lnTo>
                  <a:pt x="1830834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715"/>
            <a:ext cx="18288000" cy="10275570"/>
          </a:xfrm>
          <a:custGeom>
            <a:avLst/>
            <a:gdLst/>
            <a:ahLst/>
            <a:cxnLst/>
            <a:rect l="l" t="t" r="r" b="b"/>
            <a:pathLst>
              <a:path w="18288000" h="1027557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25" y="0"/>
            <a:ext cx="18298171" cy="10281285"/>
          </a:xfrm>
          <a:custGeom>
            <a:avLst/>
            <a:gdLst/>
            <a:ahLst/>
            <a:cxnLst/>
            <a:rect l="l" t="t" r="r" b="b"/>
            <a:pathLst>
              <a:path w="18298171" h="10281285">
                <a:moveTo>
                  <a:pt x="0" y="0"/>
                </a:moveTo>
                <a:lnTo>
                  <a:pt x="18298171" y="0"/>
                </a:lnTo>
                <a:lnTo>
                  <a:pt x="18298171" y="10281285"/>
                </a:lnTo>
                <a:lnTo>
                  <a:pt x="0" y="10281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79CDA3-771C-941C-3838-E4F95F917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" y="0"/>
            <a:ext cx="18278168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F91972-120D-8650-408F-1C56E060E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0500"/>
            <a:ext cx="17830800" cy="96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596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A2A0B6-785D-13FE-B367-9D1EA8203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28" y="114300"/>
            <a:ext cx="18001872" cy="998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543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6242079" y="3696981"/>
            <a:ext cx="8408288" cy="6253611"/>
          </a:xfrm>
          <a:custGeom>
            <a:avLst/>
            <a:gdLst/>
            <a:ahLst/>
            <a:cxnLst/>
            <a:rect l="l" t="t" r="r" b="b"/>
            <a:pathLst>
              <a:path w="8408288" h="6253611">
                <a:moveTo>
                  <a:pt x="0" y="0"/>
                </a:moveTo>
                <a:lnTo>
                  <a:pt x="8408287" y="0"/>
                </a:lnTo>
                <a:lnTo>
                  <a:pt x="8408287" y="6253612"/>
                </a:lnTo>
                <a:lnTo>
                  <a:pt x="0" y="625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95375"/>
            <a:ext cx="15884118" cy="8924889"/>
          </a:xfrm>
          <a:custGeom>
            <a:avLst/>
            <a:gdLst/>
            <a:ahLst/>
            <a:cxnLst/>
            <a:rect l="l" t="t" r="r" b="b"/>
            <a:pathLst>
              <a:path w="15884118" h="8924889">
                <a:moveTo>
                  <a:pt x="0" y="0"/>
                </a:moveTo>
                <a:lnTo>
                  <a:pt x="15884118" y="0"/>
                </a:lnTo>
                <a:lnTo>
                  <a:pt x="15884118" y="8924889"/>
                </a:lnTo>
                <a:lnTo>
                  <a:pt x="0" y="8924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-103990" y="0"/>
            <a:ext cx="10449931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40"/>
              </a:lnSpc>
            </a:pPr>
            <a:r>
              <a:rPr lang="en-US" sz="7200" spc="-215">
                <a:solidFill>
                  <a:srgbClr val="0C4C73"/>
                </a:solidFill>
                <a:latin typeface="Canva Sans"/>
                <a:ea typeface="Canva Sans"/>
                <a:cs typeface="Canva Sans"/>
                <a:sym typeface="Canva Sans"/>
              </a:rPr>
              <a:t>HQ RESEARCH CELL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715"/>
            <a:ext cx="18288000" cy="10275570"/>
          </a:xfrm>
          <a:custGeom>
            <a:avLst/>
            <a:gdLst/>
            <a:ahLst/>
            <a:cxnLst/>
            <a:rect l="l" t="t" r="r" b="b"/>
            <a:pathLst>
              <a:path w="18288000" h="1027557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715"/>
            <a:ext cx="18288000" cy="10275570"/>
          </a:xfrm>
          <a:custGeom>
            <a:avLst/>
            <a:gdLst/>
            <a:ahLst/>
            <a:cxnLst/>
            <a:rect l="l" t="t" r="r" b="b"/>
            <a:pathLst>
              <a:path w="18288000" h="1027557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715"/>
            <a:ext cx="18288000" cy="10275570"/>
          </a:xfrm>
          <a:custGeom>
            <a:avLst/>
            <a:gdLst/>
            <a:ahLst/>
            <a:cxnLst/>
            <a:rect l="l" t="t" r="r" b="b"/>
            <a:pathLst>
              <a:path w="18288000" h="1027557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691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SHO REVIEW &amp; APPROVAL QUEUE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7007840" cy="7589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ho_sho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6916400" cy="7498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8823960"/>
            <a:ext cx="1691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4A3B8"/>
                </a:solidFill>
              </a:defRPr>
            </a:pPr>
            <a:r>
              <a:t>📌 Key Function: Station House Officers review, approve, or return draft FIRs, arrest memos, and PCR entries before official submission to higher headquarters.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691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IO WORKLOAD &amp; ASSIGNMENT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7007840" cy="7589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ho_sho_io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6916400" cy="7498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8823960"/>
            <a:ext cx="1691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4A3B8"/>
                </a:solidFill>
              </a:defRPr>
            </a:pPr>
            <a:r>
              <a:t>📌 Key Function: Station commanders monitor active case distribution across Investigating Officers (IOs), tracking pending disposals and workload balancing.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691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DATA WAREHOUSE OLAP EXECUTIVE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7007840" cy="7589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q_analyst_warehouse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6916400" cy="7498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8823960"/>
            <a:ext cx="1691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4A3B8"/>
                </a:solidFill>
              </a:defRPr>
            </a:pPr>
            <a:r>
              <a:t>📌 Key Function: High-performance OLAP dashboard providing real-time crime trend breakdowns, disposal rate analytics, and spatial district comparisons.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691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OLAP MULTI-DIMENSIONAL PIVOT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7007840" cy="7589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q_analyst_report_pivot_bui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6916400" cy="7498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8823960"/>
            <a:ext cx="1691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4A3B8"/>
                </a:solidFill>
              </a:defRPr>
            </a:pPr>
            <a:r>
              <a:t>📌 Key Function: Officers build ad-hoc cross-tabulations by dragging dimensions and measures into rows/columns/values, with live preview and one-click Excel export.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691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FORM-MATCHED REGISTER &amp; RAW CASE CUSTOMIZER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7007840" cy="7589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q_analyst_report_custom_ex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6916400" cy="7498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8823960"/>
            <a:ext cx="1691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4A3B8"/>
                </a:solidFill>
              </a:defRPr>
            </a:pPr>
            <a:r>
              <a:t>📌 Key Function: Customizes raw FIR and register exports by selecting specific statutory form section fields, automatically formatted into section-aligned columns.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691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STATUTORY DIARY GENERATION &amp; COMPILATION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7007840" cy="7589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istrict_officer_statutory_di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6916400" cy="7498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8823960"/>
            <a:ext cx="1691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4A3B8"/>
                </a:solidFill>
              </a:defRPr>
            </a:pPr>
            <a:r>
              <a:t>📌 Key Function: Automates statutory return compiling for 41 FN Return, District Diary, PHQ Diary, and Daily Diary registers with formula verification.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1463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0B981"/>
                </a:solidFill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94A3B8"/>
                </a:solidFill>
              </a:defRPr>
            </a:pPr>
            <a:r>
              <a:t>PRISM — Police Record Intelligence &amp; System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236</Words>
  <Application>Microsoft Office PowerPoint</Application>
  <PresentationFormat>Custom</PresentationFormat>
  <Paragraphs>38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Canva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PRISM </dc:title>
  <cp:lastModifiedBy>Vaibhav Tripathi</cp:lastModifiedBy>
  <cp:revision>3</cp:revision>
  <dcterms:created xsi:type="dcterms:W3CDTF">2006-08-16T00:00:00Z</dcterms:created>
  <dcterms:modified xsi:type="dcterms:W3CDTF">2026-08-30T18:26:50Z</dcterms:modified>
  <dc:identifier>DAHRa5HeYIo</dc:identifier>
</cp:coreProperties>
</file>